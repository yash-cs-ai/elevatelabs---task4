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58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dashboard analyses over half a million US car auction records from 2014–2015. Walk through the 5 slides — each builds on the previous.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03D7-5E41-0926-E5F8-0B17554D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25806-86C4-41C5-B2A3-35A3E968D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22521-4BE4-16B8-C6C9-EED3EC309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5 findings are the core takeaways. The underpricing finding (-$158 vs MMR) is the most actionable — it directly affects profitability.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9D2CA-5CF4-CE36-6414-070C979F9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71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5 findings are the core takeaways. The underpricing finding (-$158 vs MMR) is the most actionable — it directly affects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two red KPIs — margin over MMR and avg profit per car. These are the signals that pricing strategy needs a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February is by far the strongest month. April is near-zero — this is likely a data gap or auction off-season. Florida and California are the clear leaders geographically.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call to action: pricing review is the quickest win. The geographic focus (FL/CA) and seasonality fix (Feb campaign) are medium-term 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85FA5">
              <a:alpha val="30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Sales Performance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vehicle transactions  between 2014-2015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Power BI   |   Dataset: US Car Auction Records   |   Prepared by: Yashaswi Kumar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4E669-53E3-AE1F-2BBE-69657DD2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0F34C2-556A-378A-8914-3C7FCA52836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FCD2F2-86D0-2831-69B0-6E27A4E4FC73}"/>
              </a:ext>
            </a:extLst>
          </p:cNvPr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Dashboard</a:t>
            </a:r>
            <a:endParaRPr lang="en-US" sz="2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67EFD4-6B51-1922-BAFD-CEB13EAA1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73" y="1005840"/>
            <a:ext cx="7687654" cy="397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 w="12700">
            <a:solidFill>
              <a:srgbClr val="DCE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5272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85FA5">
              <a:alpha val="15000"/>
            </a:srgbClr>
          </a:solidFill>
          <a:ln w="12700">
            <a:solidFill>
              <a:srgbClr val="185FA5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67335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$8bn total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98424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559K units sold across 2014–2015, with the bulk of transactions occurring in early 2015.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 w="12700">
            <a:solidFill>
              <a:srgbClr val="DCE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25272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85FA5">
              <a:alpha val="15000"/>
            </a:srgbClr>
          </a:solidFill>
          <a:ln w="12700">
            <a:solidFill>
              <a:srgbClr val="185FA5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67335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&amp; California lead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98424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and CA are the top two states by sales volume, together accounting for over 30% of national transactions.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 w="12700">
            <a:solidFill>
              <a:srgbClr val="DCE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25272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67335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&amp; Sedan dominate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98424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SUVs and Sedans make up over 55% of all units sold — the clearest signal of buyer preference.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0020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 w="12700">
            <a:solidFill>
              <a:srgbClr val="DCE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09928" y="31272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9928" y="354787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underpricing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9928" y="385876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sold at an average of $158 below MMR market value, suggesting a systemic pricing gap across manufacturers.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 w="12700">
            <a:solidFill>
              <a:srgbClr val="DCE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31272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F9F27">
              <a:alpha val="15000"/>
            </a:srgbClr>
          </a:solidFill>
          <a:ln w="12700">
            <a:solidFill>
              <a:srgbClr val="EF9F27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54787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is peak month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288" y="385876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sharply in February. April sees the steepest drop — inventory and marketing should align to this pattern.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Snapshot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487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154680" y="1371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35040" y="1371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0FC5E55-9945-D1A2-ED36-F12D24A8A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257"/>
            <a:ext cx="9144000" cy="7862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4387A8-2E6C-1359-7537-8D9A0AEC5A55}"/>
              </a:ext>
            </a:extLst>
          </p:cNvPr>
          <p:cNvSpPr txBox="1"/>
          <p:nvPr/>
        </p:nvSpPr>
        <p:spPr>
          <a:xfrm>
            <a:off x="391885" y="2111828"/>
            <a:ext cx="86577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Total Sales:</a:t>
            </a:r>
            <a:r>
              <a:rPr lang="en-IN" sz="1400" dirty="0"/>
              <a:t> Defines top-line gross revenue. It represents the absolute cumulative value of all vehicle transactions before any deductions, indicating market scale and volume.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Margin Over MMR:</a:t>
            </a:r>
            <a:r>
              <a:rPr lang="en-IN" sz="1400" dirty="0"/>
              <a:t> Defines absolute pricing health against market benchmarks. By tracking the difference between actual sales and the wholesale benchmark ({Total Sales} - {Total MMR}), it reveals whether inventory is moving at a net premium or net loss.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Total Units:</a:t>
            </a:r>
            <a:r>
              <a:rPr lang="en-IN" sz="1400" dirty="0"/>
              <a:t> It tracks the exact count of transaction records, showing the total asset throughput handled over the selected timeframe.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 err="1"/>
              <a:t>Avg</a:t>
            </a:r>
            <a:r>
              <a:rPr lang="en-IN" sz="1400" b="1" dirty="0"/>
              <a:t> Sale Price:</a:t>
            </a:r>
            <a:r>
              <a:rPr lang="en-IN" sz="1400" dirty="0"/>
              <a:t> Defines the mean transaction value per vehicle.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 err="1"/>
              <a:t>Avg</a:t>
            </a:r>
            <a:r>
              <a:rPr lang="en-IN" sz="1400" b="1" dirty="0"/>
              <a:t> Profit per Car:</a:t>
            </a:r>
            <a:r>
              <a:rPr lang="en-IN" sz="1400" dirty="0"/>
              <a:t> Defines operational efficiency and individual unit profitability. It calculates the mean variance between actual transaction price and wholesale value per vehicle.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Sale Trend Analysis – via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Linechart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20040" y="434340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EF9EC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1148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February peaks at ~$2.3bn. April crashes 95% — likely seasonal auction cycle.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182781-B87F-A0F8-0346-855B1D7C0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0" y="1173044"/>
            <a:ext cx="5863403" cy="31246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data-backed actions to improve car sales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2A3875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3560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Cars sell $158 below market value on average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74650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pricing strategy for high-volume SUV and Sedan segments. Introduce MMR-anchored floor pricing to close the gap.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29400" y="16459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C0392B">
              <a:alpha val="50000"/>
            </a:srgbClr>
          </a:solidFill>
          <a:ln w="12700">
            <a:solidFill>
              <a:srgbClr val="C0392B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6459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2A3875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4261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26243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February is peak, April drops 95%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9535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Align inventory stocking and marketing campaigns to the Jan–Feb window. Investigate April data gap for auction cycle opportunities.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285292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F9F27">
              <a:alpha val="50000"/>
            </a:srgbClr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8529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2A3875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962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8313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FL and CA dominate sales volume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Prioritise dealership investment, auction partnerships, and digital marketing spend in Florida and California.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405993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0599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600</Words>
  <Application>Microsoft Office PowerPoint</Application>
  <PresentationFormat>On-screen Show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Performance Dashboard</dc:title>
  <dc:subject>PptxGenJS Presentation</dc:subject>
  <dc:creator>PptxGenJS</dc:creator>
  <cp:lastModifiedBy>Yashaswi Kumar</cp:lastModifiedBy>
  <cp:revision>3</cp:revision>
  <dcterms:created xsi:type="dcterms:W3CDTF">2026-06-29T08:59:02Z</dcterms:created>
  <dcterms:modified xsi:type="dcterms:W3CDTF">2026-06-29T09:34:59Z</dcterms:modified>
</cp:coreProperties>
</file>